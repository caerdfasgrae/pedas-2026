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Selamat pagi Dewan Juri yang terhormat. Kami mempersembahkan SANTARA-SHIELD, sistem deteksi dini phishing domain .id yang dirancang untuk melindungi kedaulatan digital nasional dengan pendekatan Multi-GBDT Ensemble dan Brand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Kejahatan phishing di Indonesia telah berevolusi. Domain murah seperti .my.id dan .biz.id dimanfaatkan penipu untuk menyamar sebagai bank resmi atau menyebarkan APK surat tilang ETLE. Di grafik terlihat 53% kasus menyerang sektor perbankan.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Sistem IDADX dan BIMA AI saat ini sangat baik namun memiliki celah: IDADX bersifat reaktif setelah ada laporan, sedangkan BIMA AI butuh waktu merayapi web. SANTARA-SHIELD hadir mengisi celah di gerbang pendaftaran dalam hitungan milidetik.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Kami menerapkan 7-Langkah ML Lifecycle secara disiplin dari Problem Framing hingga Deployment. Seluruh tahapan kami modularisasi di folder src sehingga reproducible dan siap diaudit.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Keunggulan kami terletak pada 4 pilar: Kamus Brand Indonesia yang paham konteks lokal, N-Gram Stacking yang membaca gaya tipuan karakter, dan validasi StratifiedGroupKFold yang menjamin nol kebocoran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Kami menggabungkan LightGBM, CatBoost, dan XGBoost. Alih-alih merata-rata secara acak, kami menggunakan optimasi SLSQP untuk menemukan bobot optimal matematis. Di grafik terlihat fitur N-gram dan Brand menempati urutan teratas.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Pada kurva Precision-Recall di sebelah kiri, model kami membuktikan performa tinggi di data tidak seimbang: menangkap 98% phishing dengan presisi 99.3%. Pada matriks kanan, 148 phishing dicegat dan hanya 1 domain legal yang terflag, meminimalkan komplain legal ke PANDI.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Kami menyediakan fungsi santara_inspect di Google Colab. Dewan juri dapat menguji URL apa saja secara langsung. Sistem mengekstrak fitur dalam 0.94 milidetik dan menyajikan kartu diagnosis lengkap dengan rekomendasi tindakan.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Untuk memenangkan Best Analysis, kami menyajikan 3 rekomendasi konkret: Pre-Delegation Gatekeeper pada .my.id, otomatisasi triase laporan IDADX untuk memangkas respon 24 jam, dan Whitelist Finansial Terpusat bersama perbankan.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SANTARA-SHIELD membuktikan bahwa kecerdasan buatan berbasis Multi-GBDT dan kearifan lokal dapat menjadi benteng tangguh bagi kedaulatan nama domain .id. Seluruh kode kami transparan, deterministik, dan siap beroperasi bersama PANDI. Terima kasih!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Segoe UI"/>
              </a:defRPr>
            </a:pPr>
            <a:r>
              <a:t>SANTARA-SHIELD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8FAFC"/>
                </a:solidFill>
                <a:latin typeface="Segoe UI"/>
              </a:defRPr>
            </a:pPr>
            <a:r>
              <a:t>Perisai Kedaulatan Ekosistem Domain .id Berbasis Multi-GBDT Ensemble &amp; Brand Intelligence</a:t>
            </a:r>
          </a:p>
          <a:p>
            <a:pPr algn="ctr">
              <a:spcBef>
                <a:spcPts val="2000"/>
              </a:spcBef>
              <a:defRPr sz="1400">
                <a:solidFill>
                  <a:srgbClr val="F59E0B"/>
                </a:solidFill>
                <a:latin typeface="Segoe UI"/>
              </a:defRPr>
            </a:pPr>
            <a:r>
              <a:t>Pesta Data Nasional (PeDaS 2026) | APTIKOM Fest 2026 x PANDI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Identitas Tim: Peserta PeDaS 2026 (Double-Blind Review)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1. Urgensi Masalah: Ledakan Phishing pada Domain Murah .id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Ancaman Kejahatan Siber Finansial &amp; Modus Malware APK WhatsApp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Tren Serangan Siber Lokal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Pelaku menyalahgunakan domain murah (.my.id &amp; .biz.id) yang tanpa syarat dokumen bisnis ketat.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Modus 1: Tiruan Bank &amp; Fintech (BCA, BRI, Mandiri, DANA) melalui teknik Combosquatting.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Modus 2: Pancingan APK Malware WhatsApp (Surat Tilang ETLE, Undangan Nikah, Resi Ekspedisi).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Dampak: Kerugian finansial korban rata-rata puluhan juta per kasus akibat pembobolan saldo m-banking.</a:t>
            </a:r>
          </a:p>
        </p:txBody>
      </p:sp>
      <p:pic>
        <p:nvPicPr>
          <p:cNvPr id="5" name="Picture 4" descr="eda_category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8294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4A3B8"/>
                </a:solidFill>
                <a:latin typeface="Segoe UI"/>
              </a:defRPr>
            </a:pPr>
            <a:r>
              <a:t>📌 Sitasi Valid: APWG Phishing Activity Trends Report Q4 2025; BSSN Laporan Tahunan Monitoring Keamanan Siber Indonesia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2. Analisis Kritis: Mengapa Solusi Saat Ini Belum Cukup?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Mengubah Paradigma Penanganan dari Reaktif 24 Jam Menjadi Preventif 5 Milidetik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[Tantangan] Sistem IDADX Saat Ini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Bersifat Reaktif: Menunggu laporan korban atau bank masuk ke portal.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Jendela Bahaya (Window of Exposure): Berjalan 12-24 jam sebelum takedown.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Korban sudah terlanjur mentransfer uang atau APK sudah terlanjur terpasang.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[Tantangan] Perayap BIMA AI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Melakukan perayapan (deep web crawling) konten halaman web secara berkala.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Tantangan: Membutuhkan sumber daya komputasi besar dan latensi tinggi.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Tidak dapat memeriksa domain yang kontennya dinamis atau belum aktif didelegasikan.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[Solusi Kita] SANTARA-SHIELD (Celah Terisi)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Pre-Delegation Gatekeeper: Menyaring domain di gerbang pendaftaran Registrar API.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Kecepatan: Analisis struktur URL dalam 0.94 milidetik tanpa menunggu web aktif.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Decision Support: Menyaring ribuan domain dan mengalirkan resiko tinggi ke analis PANDI.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4A3B8"/>
                </a:solidFill>
                <a:latin typeface="Segoe UI"/>
              </a:defRPr>
            </a:pPr>
            <a:r>
              <a:t>📌 Sitasi Valid: PANDI IDADX Laporan Tahunan Phishing 2024; Kintis et al., USENIX Security: Understanding Domain Squatting.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3. Metodologi Riset: 7-Langkah Machine Learning Lifecycle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Standar Industri Data Science CRISP-DM Terstruktur &amp; Teruji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1. Problem Framing  ➔  Dilema operasional FP vs FN; Metrik F1-Macro &amp; Recall.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2. Data Sourcing  ➔  212 data benchmark phishing lokal; Slot otomatisasi PANDI.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39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3. Data Cleaning  ➔  Normalisasi URL, audit keabsahan label bank resmi.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4. Feature Eng (52)  ➔  Leksikal, Brand YAML, Shannon Entropy, N-Gram Stacking.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5. Modeling Multi-GBDT  ➔  LightGBM + CatBoost + XGBoost dengan StratifiedGroupKFold.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6. Model Evaluation  ➔  Precision-Recall Curve, Confusion Matrix, Threshold tau*.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59"/>
            <a:ext cx="1069848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7. Deployment &amp; DSS  ➔  Live Inspector santara_inspect, generator submission.csv.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4A3B8"/>
                </a:solidFill>
                <a:latin typeface="Segoe UI"/>
              </a:defRPr>
            </a:pPr>
            <a:r>
              <a:t>📌 Sitasi Valid: CRISP-DM Standard Process Model; Google Machine Learning Engineering Best Practices.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4. Empat Pilar Inovasi Fitur &amp; Anti-Leakage Validation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Memadukan Konteks Ancaman Indonesia dengan Rekayasa Fitur Matematika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Indonesian Brand YAML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Kamus cerdas 30+ brand lokal (BCA, BRI, Mandiri, DANA, ETLE, J&amp;T, PLN).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Fuzzy String Matching menghitung Levenshtein distance nama brand.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Deteksi Combosquatting &amp; Subdomain Hijacking seketika.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Char N-Gram Stacking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Membaca manipulasi pengetikan penipu (misal: kl1kbca atau b-c-a-verif).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TF-IDF 3-5 gram karakter di-stack menggunakan regresi linier Out-of-Fold.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Merangkum gaya bahasa URL menjadi 1 skor probabilitas padat (ngram_phish_prob).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StratifiedGroupKFold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Pemisahan data Train/Val berdasarkan Domain Induk (FQDN).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Mencegah kebocoran data (Domain Group Leakage) antar lipatan evaluasi.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Menguji ketangguhan menangkal penipu baru (Zero-Day Phishing Generalization).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4A3B8"/>
                </a:solidFill>
                <a:latin typeface="Segoe UI"/>
              </a:defRPr>
            </a:pPr>
            <a:r>
              <a:t>📌 Sitasi Valid: Kaufman et al., ACM KDD: Leakage in Data Mining; Chen &amp; Guestrin, XGBoost Scalable Tree Boosting.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5. Pemodelan: Multi-GBDT Ensemble &amp; SLSQP Blending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Kolaborasi Tiga Algoritma Pohon Terbaik Dunia Tanpa Tebak Bobot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Arsitektur Multi-GBDT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LightGBM: Cepat, efisien pada fitur frekuensi leksikal.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CatBoost: Sangat tangguh membaca fitur kategorikal &amp; relasi brand.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XGBoost: Akurat pada pemisahan nilai kontinu entropi &amp; rasio digit.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SLSQP Optimizer: Menemukan bobot pembobotan terbaik secara matematis dengan konstrain non-negatif dan total bobot = 1.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Hasil: Kekuatan masing-masing model saling melengkapi kelemahan model lain.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8294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4A3B8"/>
                </a:solidFill>
                <a:latin typeface="Segoe UI"/>
              </a:defRPr>
            </a:pPr>
            <a:r>
              <a:t>📌 Sitasi Valid: Kraft, D., TOMS: Algorithm 733: Fortran Subroutines for SLSQP; Lundberg &amp; Lee, NeurIPS: SHAP Unified Framework.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6. Hasil Evaluasi Empiris &amp; Matriks Dampak Industri PANDI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Keseimbangan Ekstrem: Recall 98.01%, F1-Score 0.9772, False Positive Hanya 1.64%</a:t>
            </a:r>
          </a:p>
        </p:txBody>
      </p:sp>
      <p:pic>
        <p:nvPicPr>
          <p:cNvPr id="4" name="Picture 3" descr="test_pr_c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279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4A3B8"/>
                </a:solidFill>
                <a:latin typeface="Segoe UI"/>
              </a:defRPr>
            </a:pPr>
            <a:r>
              <a:t>📌 Sitasi Valid: Saito &amp; Rehmsmeier, PLoS ONE: The Precision-Recall Plot Is More Informative Than ROC for Imbalanced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7. Implementasi Produk: Single-Domain Interactive Inspector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Demonstrasi Langsung Pengujian URL Ekosistem .id dalam Hitungan Milidetik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Fitur 'santara_inspect' Colab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Uji Coba Instan: Memasukkan URL apa saja langsung menghasilkan diagnosis.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Tampilan Dashboard SOC: Desain kontras tinggi (High-Contrast Charcoal Slate) ramah Dark &amp; Light Mode.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Diagnosis Detail: Menampilkan skor resiko, sinyal brand yang dicatut, deteksi file APK malware, dan nilai entropi.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Saran Tindakan Terintegrasi: Rekomendasi triase langsung untuk analis PANDI.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Kecepatan Skalabilitas Skala PANDI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Uji Nyata 1.000 URL: Selesai hanya dalam 0.94 detik (~0.94 ms/URL).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Konsumsi Memori RAM: Hanya ~8.4 MB (menggunakan &lt; 0.2% RAM Google Colab).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Siap menangani puluhan ribu pendaftaran domain .id baru per hari tanpa membebani server infrastruktur PANDI.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4A3B8"/>
                </a:solidFill>
                <a:latin typeface="Segoe UI"/>
              </a:defRPr>
            </a:pPr>
            <a:r>
              <a:t>📌 Sitasi Valid: PeDaS 2026 Interactive Evaluation Notebook; Colab Runtime Benchmark 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8. Rekomendasi Kebijakan Strategis untuk PANDI &amp; IDADX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Transformasi Nyata dari Riset Teoretis Menjadi Kebijakan Regulasi Nasional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[Kebijakan] 1. Pre-Delegation DNS Gate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Diterapkan khusus pada SLD murah berisiko tinggi (.my.id &amp; .biz.id).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Domain dengan skor resiko &gt;= 90% ditahan sementara (pending delegation 24 jam).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Registran diminta unggah verifikasi KTP/identitas sebelum DNS aktif.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[Operasional] 2. Otomatisasi Triase IDADX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Laporan publik di portal IDADX dinilai otomatis oleh SANTARA-SHIELD.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Resiko sedang (tau* s/d 90%) dikirim sebagai prioritas perayapan mendalam BIMA AI.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Memangkas waktu respon takedown dari 24 jam menjadi hitungan menit.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[Regulasi] 3. Whitelist Finansial Terpusat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PANDI bersama OJK &amp; Perbankan membentuk repositori resmi domain lembaga keuangan.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Setiap pendaftaran domain baru yang menyerupai nama bank langsung ditandai sebagai indikasi combosquatting ilegal.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4A3B8"/>
                </a:solidFill>
                <a:latin typeface="Segoe UI"/>
              </a:defRPr>
            </a:pPr>
            <a:r>
              <a:t>📌 Sitasi Valid: Permenkominfo No. 5 Tahun 2020 tentang PSE Lingkup Privat; Registry-Registrar Agreement (RRA) PANDI.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9. Kesimpulan: Perisai Cerdas Menuju Kedaulatan Siber .id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SANTARA-SHIELD Siap Beroperasi Bersama PANDI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Rangkuman Keunggulan Solusi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Akurasi &amp; Keseimbangan: F1-Macro 0.9772 dan Recall Phishing 98.01%.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Minim False Alarm: False Positive Rate hanya 1.64% melindungi hak bisnis UKM.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Skalabilitas Industri: Pemrosesan 0.94 milidetik/URL (&lt; 1 detik per 1.000 domain).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Inovasi Kontekstual: Kamus 30+ brand lokal dan deteksi malware APK WhatsApp.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Komitmen Kesiapan Babak Final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100% Deterministik: RANDOM_STATE=42 menjamin hasil identik di semua komputer.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Siap Menyambut Data Resmi: Pipeline dilengkapi zero-config auto-detection.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Repositori Open-Source &amp; Bersih: Bebas data leakage, teruji unit test 10/10.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Misi Kami: Melindungi ruang siber dan kedaulatan nama domain Indonesia.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4A3B8"/>
                </a:solidFill>
                <a:latin typeface="Segoe UI"/>
              </a:defRPr>
            </a:pPr>
            <a:r>
              <a:t>📌 Sitasi Valid: Repositori Resmi: https://github.com/caerdfasgrae/PEDAS-2026; PeDaS 2026 Finalist Commitment.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